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B8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6B8D"/>
                </a:solidFill>
                <a:latin typeface="Calibri"/>
              </a:rPr>
              <a:t>Sevimli mevalar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O'quvchilar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Olma</c:v>
                  </c:pt>
                  <c:pt idx="1">
                    <c:v>Banan</c:v>
                  </c:pt>
                  <c:pt idx="2">
                    <c:v>Uzum</c:v>
                  </c:pt>
                  <c:pt idx="3">
                    <c:v>Nok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4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Salomlashish. Bugungi dars — TIMSS nima ekanini tushunish va uni sinfda interaktiv o'yinlar orqali qo'llash. Ilova proyektorda ochiq turishi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TIMSS 1995 yildan beri o'tkaziladi. 4- va 8-sinflar. O'zbekiston uchun bu tadqiqot boshlang'ich ta'lim sifatini xalqaro me'yorlar bilan taqqoslash imkonini beradi.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TIMSS 4-sinf matematika: Bilish 40%, Qo'llash 40%, Mulohaza 20%. O'zbekiston o'quvchilari ko'pincha Mulohaza sohasida qiynaladi — shunga urg'u berish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Ilovada «Masala» o'yini aynan shunday: sonlar o'rniga sinfdagi o'quvchilar ismi bilan matnli masala chiqadi.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yerda ilovaga o'tib, barabanni bir marta aylantirib ko'rsating. Sozlamalarda «Proyektor rejimi» yoqilgan bo'lsin.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Batafsil ssenariy: docs/masterklass-45-daqiqa.md faylida — har bosqich uchun o'qituvchi so'zlari va ilovada bosiladigan tugmalar.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3840480" cy="38404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91840"/>
            <a:ext cx="2926080" cy="292608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899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Bilish  →  Qo'llash  →  Mulohaza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sinf o'qituvchilari uchun ochiq dars (masterklass)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5669280" cy="777240"/>
          </a:xfrm>
          <a:prstGeom prst="roundRect">
            <a:avLst>
              <a:gd name="adj" fmla="val 14118"/>
            </a:avLst>
          </a:prstGeom>
          <a:solidFill>
            <a:srgbClr val="1C1C3F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82219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396483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Mamadaliyeva Xurshidaxon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4096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Jalaquduq tumani 14-maktab boshlang'ich sinf o'qituvchisi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o'yinlar bilan  ·  «Sehrli Baraban» ilovasi  ·  45 daqiqa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nima?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in International Mathematics and Science Study — o'quvchilarning matematika va tabiiy fanlardan bilim va ko'nikmalarini xalqaro darajada baholaydigan tadqiqot.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4 yilda o'tkaziladi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Dunyoning 60 ga yaqin davlati qatnashadi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 ta'lim siyosatini shakllantiradi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bilim emas — tushunish va qo'llash baholanadi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1600200" cy="1554480"/>
          </a:xfrm>
          <a:prstGeom prst="roundRect">
            <a:avLst>
              <a:gd name="adj" fmla="val 7059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6928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-sinf o'quvchilari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1188720"/>
            <a:ext cx="1600200" cy="1554480"/>
          </a:xfrm>
          <a:prstGeom prst="roundRect">
            <a:avLst>
              <a:gd name="adj" fmla="val 7059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06640" y="13716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21488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-sinf o'quvchilari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92608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31089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806" y="325160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537960" y="3044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sonlar, o'lchov, geometriya, ma'lumotlar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0" y="38862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806" y="4028846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3796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Tabiiy fanlar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537960" y="4123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hayot, jismoniy va Yer haqidagi fanlar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nimani baholaydi?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Qoidani yod olganini emas — bilimni tushunish, qo'llash va mulohaza yuritishni.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Tushunish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304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Olgan bilimini o'z so'zi bilan tushuntira oladi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737360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201168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2178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938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Amalda qo'llash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304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Bilimdan foydalanib hayotiy masalani yechadi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5954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355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yechish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21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Notanish vaziyatda yechim yo'lini topadi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09160" y="3154680"/>
            <a:ext cx="3977640" cy="1188720"/>
          </a:xfrm>
          <a:prstGeom prst="roundRect">
            <a:avLst>
              <a:gd name="adj" fmla="val 9231"/>
            </a:avLst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429000"/>
            <a:ext cx="640080" cy="64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5954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355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qilish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7216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Jadval, diagramma va ma'lumotlardan xulosa chiqaradi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kognitiv soha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Matematika topshiriqlari uch darajaga bo'linadi (4-sinf, TIMSS taqsimoti)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9156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Bilish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084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06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Faktlar, qoidalar, tushunchalar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Hisoblash, o'lchash, tanib olish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«25 + 37 = ?»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5087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737360"/>
            <a:ext cx="685800" cy="6858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9156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340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Qo'llash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343400" y="2084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606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Bilimni tanish vaziyatda ishlatish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 tuzish va yechish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«Do'konda 25 ta daftar bor edi…»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73736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19156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7804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Mulohaza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178040" y="2084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2606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Tahlil, umumlashtirish, asoslash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Notanish, ko'p bosqichli masalalar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«Qaysi ikki meva olmaga teng?»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misol → TIMSS savoli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9E7F6"/>
          </a:solidFill>
          <a:ln w="12700">
            <a:solidFill>
              <a:srgbClr val="E9E7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+ 37 = 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faqat hisoblaydi. Nima uchun, qayerda kerak — noma'lum.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60604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292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USLUBIDA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7373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«Do'konda 25 ta daftar bor edi. Yana 37 ta daftar olib kelindi. Kun davomida 48 tasi sotildi. Do'konda nechta daftar qoldi?»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3246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Hayotiy vaziyat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bosqich: 25 + 37, so'ng − 48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qaysi amalni tanlashni o'zi hal qiladi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Namuna savol — Bilish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0" y="36576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1" y="532181"/>
            <a:ext cx="307238" cy="30723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417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4 507 sonida 5 raqami qaysi razryadda turibdi?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46888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3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468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Birlik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80360" y="246888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3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17520" y="2468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O'nlik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333756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337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Yuzlik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880360" y="3337560"/>
            <a:ext cx="19659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3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3337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Minglik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118872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7150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«Bilish»?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1874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Razryad tushunchasini bilish kifoya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Hisoblash yo'q, tahlil yo'q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qadamli javob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Ilovada: 🌐 TIMSS → 📘 Bilish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Namuna savol — Qo'llash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0" y="3657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1" y="5321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143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Jadvalda sinf kutubxonasidagi kitoblar soni berilgan. Ertaklar she'rlardan nechta ko'p?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840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Kitob turi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Ertaklar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She'rlar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Qomuslar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Hikoyalar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46320" y="118872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07492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«Qo'llash»?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74920" y="18745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24 − 15 ni hamma biladi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Lekin jadvaldan QAYSI ikki sonni olishni bola o'zi topadi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o'qish + amalni tanlash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07492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 24 − 15 = 9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0749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Ilovada: 🌐 TIMSS → 🛠️ Qo'llash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Namuna savol — Mulohaza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0" y="3657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3141" y="5321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143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ikki mevani tanlagan o'quvchilar soni birgalikda olmani tanlaganlar soniga teng?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01168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029200" y="118872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2578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«Mulohaza»?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257800" y="18745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Diagrammani o'qish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Juftliklarni taqqoslash: 5+3, 7+3, 5+7…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Shartga mos birini tanlab, asoslash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amal bilan javobga kelib bo'lmaydi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25780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Javob: Banan (5) + Nok (3) = 8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2578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Ilovada: 🌐 TIMSS → 🧩 Mulohaza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Tabiiy fanlarda TIMSS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O'quvchidan yodlangan ta'rif emas, ilmiy fikrlash kutiladi: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81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Hodisani tushunish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muz eriydi? Nega kunduz va tun almashadi?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52008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tahlili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 natijalar jadvalidan qaysi xulosa to'g'ri?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29732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Sabab va oqibat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O'simlikka suv berilmasa nima bo'ladi va nima uchun?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4074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913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fikrlash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 → tekshirish → xulosa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Vosita: «Sehrli Baraban»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uchun interaktiv matematik o'yinlar ilovasi — o'rnatish shart emas, internetsiz ishlaydi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C1C3F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Baraban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03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O'quvchini adolatli tanlaydi — hamma navbat bilan chiqadi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C1C3F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828800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74" y="19833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rejimi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103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soha bo'yicha tayyor savollar: jadval, diagramma, masala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C1C3F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063240"/>
            <a:ext cx="594360" cy="59436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4" y="32177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999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Jamoaviy jang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Qizil va Ko'k: krestik-nolik, misol yechib katak olish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2834640"/>
            <a:ext cx="3977640" cy="1051560"/>
          </a:xfrm>
          <a:prstGeom prst="roundRect">
            <a:avLst>
              <a:gd name="adj" fmla="val 10435"/>
            </a:avLst>
          </a:prstGeom>
          <a:solidFill>
            <a:srgbClr val="1C1C3F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0632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74" y="32177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299923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Yulduzlar, aniqlik %, TIMSS sohalari bo'yicha diagramma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25" name="Text 19"/>
          <p:cNvSpPr txBox="1"/>
          <p:nvPr/>
        </p:nvSpPr>
        <p:spPr>
          <a:xfrm>
            <a:off x="13716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 o'yin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310896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27" name="Text 21"/>
          <p:cNvSpPr txBox="1"/>
          <p:nvPr/>
        </p:nvSpPr>
        <p:spPr>
          <a:xfrm>
            <a:off x="40233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savoli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76072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3"/>
          <p:cNvSpPr txBox="1"/>
          <p:nvPr/>
        </p:nvSpPr>
        <p:spPr>
          <a:xfrm>
            <a:off x="667512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kognitiv soha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rejasi — 45 daqiqa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77240" cy="777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76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08760" y="1760220"/>
            <a:ext cx="612648" cy="0"/>
          </a:xfrm>
          <a:prstGeom prst="line">
            <a:avLst/>
          </a:prstGeom>
          <a:noFill/>
          <a:ln w="25400">
            <a:solidFill>
              <a:srgbClr val="D5D3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nima, uch soha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21408" y="1371600"/>
            <a:ext cx="777240" cy="7772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176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98648" y="1760220"/>
            <a:ext cx="612648" cy="0"/>
          </a:xfrm>
          <a:prstGeom prst="line">
            <a:avLst/>
          </a:prstGeom>
          <a:noFill/>
          <a:ln w="25400">
            <a:solidFill>
              <a:srgbClr val="D5D3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7088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Baraban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47088" y="29718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Muzni eritish, 3–4 aylantirish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11296" y="137160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11296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511296" y="2176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88536" y="1760220"/>
            <a:ext cx="612648" cy="0"/>
          </a:xfrm>
          <a:prstGeom prst="line">
            <a:avLst/>
          </a:prstGeom>
          <a:noFill/>
          <a:ln w="25400">
            <a:solidFill>
              <a:srgbClr val="D5D3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36976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savollari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36976" y="29718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Bilish → Qo'llash → Mulohaza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01184" y="1371600"/>
            <a:ext cx="777240" cy="7772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01184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901184" y="2176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78424" y="1760220"/>
            <a:ext cx="612648" cy="0"/>
          </a:xfrm>
          <a:prstGeom prst="line">
            <a:avLst/>
          </a:prstGeom>
          <a:noFill/>
          <a:ln w="25400">
            <a:solidFill>
              <a:srgbClr val="D5D3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26864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Jamoaviy jang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26864" y="29718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Qizil vs Ko'k, krestik-nolik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1072" y="137160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9107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2176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68312" y="1760220"/>
            <a:ext cx="612648" cy="0"/>
          </a:xfrm>
          <a:prstGeom prst="line">
            <a:avLst/>
          </a:prstGeom>
          <a:noFill/>
          <a:ln w="25400">
            <a:solidFill>
              <a:srgbClr val="D5D3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16752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 tuzing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016752" y="29718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misolni TIMSS savoliga aylantirish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80960" y="1371600"/>
            <a:ext cx="777240" cy="777240"/>
          </a:xfrm>
          <a:prstGeom prst="ellipse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7680960" y="2176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406640" y="29718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Natijalar, xulosa, uyga vazifa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Tayyorgarlik:  Proyektor rejimi ✔   ·   Barabanda TIMSS + Masala + Tezkor hisob ✔   ·   Ismlar ✔   ·   To'liq ekran ✔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Darsda nimani kuchaytirish kerak?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685800"/>
          </a:xfrm>
          <a:prstGeom prst="roundRect">
            <a:avLst>
              <a:gd name="adj" fmla="val 46667"/>
            </a:avLst>
          </a:prstGeom>
          <a:solidFill>
            <a:srgbClr val="6B6B8D"/>
          </a:solidFill>
          <a:ln w="12700">
            <a:solidFill>
              <a:srgbClr val="6B6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Yodla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1508760"/>
            <a:ext cx="201168" cy="201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48840" y="1280160"/>
            <a:ext cx="1463040" cy="685800"/>
          </a:xfrm>
          <a:prstGeom prst="roundRect">
            <a:avLst>
              <a:gd name="adj" fmla="val 4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4884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508760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840480" y="1280160"/>
            <a:ext cx="1463040" cy="685800"/>
          </a:xfrm>
          <a:prstGeom prst="roundRect">
            <a:avLst>
              <a:gd name="adj" fmla="val 4666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84048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Qo'lla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508760"/>
            <a:ext cx="201168" cy="2011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532120" y="1280160"/>
            <a:ext cx="1463040" cy="685800"/>
          </a:xfrm>
          <a:prstGeom prst="roundRect">
            <a:avLst>
              <a:gd name="adj" fmla="val 4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53212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qil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508760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223760" y="1280160"/>
            <a:ext cx="1463040" cy="685800"/>
          </a:xfrm>
          <a:prstGeom prst="roundRect">
            <a:avLst>
              <a:gd name="adj" fmla="val 4666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22376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chiqar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252008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872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darsda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118872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kamida bitta Qo'llash va bitta Mulohaza savoli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709160" y="237744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806" y="2520086"/>
            <a:ext cx="263347" cy="263347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4068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bilan ishlash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544068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jadval, diagramma, piktogramma — har haftada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846" y="3617366"/>
            <a:ext cx="263347" cy="26334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18872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«Nima uchun?» so'rang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118872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javobni emas, yechim yo'lini tushuntirsin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4709160" y="3474720"/>
            <a:ext cx="548640" cy="5486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1806" y="3617366"/>
            <a:ext cx="263347" cy="263347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44068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Juftlik va jamoa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544068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mulohaza savollari muhokamada yaxshi yechiladi</a:t>
            </a:r>
            <a:endParaRPr lang="en-US" sz="1250" dirty="0"/>
          </a:p>
        </p:txBody>
      </p:sp>
      <p:sp>
        <p:nvSpPr>
          <p:cNvPr id="33" name="Text 2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topshiriq: TIMSS savoli tuzing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Guruhlarda 3 daqiqa. Har guruhga oddiy misol — uni TIMSS uslubidagi savolga aylantiring: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÷ 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Qo'llash darajasidagi hayotiy masala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EDE7FD"/>
          </a:solidFill>
          <a:ln w="12700">
            <a:solidFill>
              <a:srgbClr val="EDE7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8745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468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+ 27 − 15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yoki ro'yxat asosidagi savol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874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68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8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Mulohaza: «qaysi biri», «nima uchun»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DE4E8"/>
          </a:solidFill>
          <a:ln w="12700">
            <a:solidFill>
              <a:srgbClr val="FD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874520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468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20 sm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Teskari masala: kenglikni toping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So'ng har guruh savolini o'qiydi, auditoriya sohani aniqlaydi: Bilish? Qo'llash? Mulohaza?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Mamadaliyeva Xurshidaxon  ·  Jalaquduq tumani 14-maktab  ·  TIMSS masterklass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3840480" cy="384048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657600"/>
            <a:ext cx="2560320" cy="2560320"/>
          </a:xfrm>
          <a:prstGeom prst="ellipse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9454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TIMSS — yodlashni emas, tushunish va qo'llashni o'lchaydi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darsda Bilish → Qo'llash → Mulohaza zanjiri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o'yin — o'quvchini jalb qilishning eng oson yo'li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4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Uyga vazifa: o'z mavzungizdan har sohaga bittadan savol tuzing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E'tiboringiz uchun rahmat!  ·  Savollar?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Mamadaliyeva Xurshidaxon  ·  Jalaquduq tumani 14-maktab boshlang'ich sinf o'qituvchisi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Jalaquduq tumani 14-maktab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TIMSS: Bilish, Qo'llash, Mulohaza</dc:title>
  <dc:subject>TIMSS masterklass</dc:subject>
  <dc:creator>Mamadaliyeva Xurshidaxon</dc:creator>
  <cp:lastModifiedBy>Mamadaliyeva Xurshidaxon</cp:lastModifiedBy>
  <cp:revision>1</cp:revision>
  <dcterms:created xsi:type="dcterms:W3CDTF">2026-09-20T16:52:54Z</dcterms:created>
  <dcterms:modified xsi:type="dcterms:W3CDTF">2026-09-20T16:52:54Z</dcterms:modified>
</cp:coreProperties>
</file>
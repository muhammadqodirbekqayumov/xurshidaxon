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92608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chiptalar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O'quvchilar uchun kirish chiptalari · 3–4-sinf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Mamadaliyeva Xurshidaxon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Jalaquduq tumani 14-maktab boshlang'ich sinf o'qituvchisi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o'ynaladi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Eshikda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0873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bola sinfga kirayotganda «sehrli chipta» oladi. Chiptada uning hayvon-belgisi va bitta topishmoq-savol bor.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7548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 va yoz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0474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o'z joyiga o'tirib savolni yechadi, javob va ismini yozadi. Kimdir «Bu qiyin!» desa — «Sehrli chipta faqat mulohaza qilganga ochiladi» deng 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7150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Barabanga kirish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60076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Chiptadagi ism «Sehrli Baraban»ga kiritiladi. Chiptasi bor bola barabanda qatnashadi — bu «kirish chiptasi».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7208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720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6751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Tekshirish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6967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Baraban bolani tanlaganda, u avval chiptasidagi javobini aytadi. To'g'ri bo'lsa — ⭐ (ilovada 🎁 Bonus tugmasi), keyin o'yin boshlanadi.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76809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7680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76352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Yulduzlar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79278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oxirida eng ko'p yulduz to'plagan 3 nafar bolaga «Sehrli matematik» unvoni. Javoblar varag'i — oxirgi sahifada, faqat o'qituvchi uchun.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8778240"/>
            <a:ext cx="6464808" cy="1097280"/>
          </a:xfrm>
          <a:prstGeom prst="roundRect">
            <a:avLst>
              <a:gd name="adj" fmla="val 8333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88696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etish: 2–5-sahifalar — 24 ta chipta (rangli printerda chiroyli chiqadi), qirqib olinadi. Savollar 3 xil darajada (Bilish / Qo'llash / Mulohaza) aralash berilgan — bola buni bilmaydi, o'qituvchi javoblar varag'idan ko'radi.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0195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· Jalaquduq tumani 14-maktab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EF3DC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003804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3804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 roppa-rosa 3 ni ko'rsatmoqda. Uzun (daqiqa) strelka qaysi raqamda turibdi?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807208"/>
            <a:ext cx="218084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34440" y="3172968"/>
            <a:ext cx="227228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92324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DFF5EC"/>
          </a:solidFill>
          <a:ln w="25400">
            <a:solidFill>
              <a:srgbClr val="10B98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09644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964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677156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77156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56248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9644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7365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🎈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22292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Do'konda 36 ta shar bor edi. Ularni 4 ta bolaga teng bo'lib berishdi. Har bir bolaga nechta shar tegdi?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09644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8324" y="2807208"/>
            <a:ext cx="218084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09644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86884" y="3172968"/>
            <a:ext cx="227228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44768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200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🐯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03804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03804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1069848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Qonuniyatni top va keyingi sonni yoz: 2, 4, 8, 16, ?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325880" y="6217920"/>
            <a:ext cx="218084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234440" y="6583680"/>
            <a:ext cx="227228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92324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DE4E8"/>
          </a:solidFill>
          <a:ln w="25400">
            <a:solidFill>
              <a:srgbClr val="F43F5E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009644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9644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🦁</a:t>
            </a:r>
            <a:endParaRPr lang="en-US" sz="2200" dirty="0"/>
          </a:p>
        </p:txBody>
      </p:sp>
      <p:sp>
        <p:nvSpPr>
          <p:cNvPr id="53" name="Text 51"/>
          <p:cNvSpPr txBox="1"/>
          <p:nvPr/>
        </p:nvSpPr>
        <p:spPr>
          <a:xfrm>
            <a:off x="4677156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677156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556248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56248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009644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73652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🍬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4622292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qutida 8 ta konfet bor. 6 ta qutida jami nechta konfet?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4009644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78324" y="6217920"/>
            <a:ext cx="218084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009644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6884" y="6583680"/>
            <a:ext cx="227228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44768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DE7FD"/>
          </a:solidFill>
          <a:ln w="25400">
            <a:solidFill>
              <a:srgbClr val="8B5CF6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57200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🐸</a:t>
            </a:r>
            <a:endParaRPr lang="en-US" sz="2200" dirty="0"/>
          </a:p>
        </p:txBody>
      </p:sp>
      <p:sp>
        <p:nvSpPr>
          <p:cNvPr id="69" name="Text 67"/>
          <p:cNvSpPr txBox="1"/>
          <p:nvPr/>
        </p:nvSpPr>
        <p:spPr>
          <a:xfrm>
            <a:off x="1124712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124712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03804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003804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21208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400" dirty="0"/>
          </a:p>
        </p:txBody>
      </p:sp>
      <p:sp>
        <p:nvSpPr>
          <p:cNvPr id="75" name="Text 73"/>
          <p:cNvSpPr txBox="1"/>
          <p:nvPr/>
        </p:nvSpPr>
        <p:spPr>
          <a:xfrm>
            <a:off x="1069848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ikki xonali son bilan eng kichik ikki xonali sonni qo'shsak, nechchi chiqadi?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325880" y="9628632"/>
            <a:ext cx="218084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234440" y="9994392"/>
            <a:ext cx="227228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592324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EF3DC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4009644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009644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🐵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4677156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4677156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556248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56248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6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009644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73652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🐔</a:t>
            </a:r>
            <a:endParaRPr lang="en-US" sz="2400" dirty="0"/>
          </a:p>
        </p:txBody>
      </p:sp>
      <p:sp>
        <p:nvSpPr>
          <p:cNvPr id="91" name="Text 89"/>
          <p:cNvSpPr txBox="1"/>
          <p:nvPr/>
        </p:nvSpPr>
        <p:spPr>
          <a:xfrm>
            <a:off x="4622292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Hovlida tovuqlar va sigirlar bor. Jami 5 ta bosh va 14 ta oyoq. Nechta sigir bor?</a:t>
            </a:r>
            <a:endParaRPr lang="en-US" sz="1150" dirty="0"/>
          </a:p>
        </p:txBody>
      </p:sp>
      <p:sp>
        <p:nvSpPr>
          <p:cNvPr id="92" name="Text 90"/>
          <p:cNvSpPr txBox="1"/>
          <p:nvPr/>
        </p:nvSpPr>
        <p:spPr>
          <a:xfrm>
            <a:off x="4009644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878324" y="9628632"/>
            <a:ext cx="218084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009644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4786884" y="9994392"/>
            <a:ext cx="227228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144768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99" name="Shape 97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100" name="Shape 98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DFF5EC"/>
          </a:solidFill>
          <a:ln w="25400">
            <a:solidFill>
              <a:srgbClr val="10B981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🐨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003804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3804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20 dan kichik sonman. Men 3 ga ham, 4 ga ham qoldiqsiz bo'linaman. Men qaysi sonman?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807208"/>
            <a:ext cx="218084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34440" y="3172968"/>
            <a:ext cx="227228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92324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09644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964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🐰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677156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77156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56248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9644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7365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22292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asalarining 6 ta oyog'i bor. 5 ta asalarida jami nechta oyoq?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09644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8324" y="2807208"/>
            <a:ext cx="218084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09644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86884" y="3172968"/>
            <a:ext cx="227228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44768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DE4E8"/>
          </a:solidFill>
          <a:ln w="25400">
            <a:solidFill>
              <a:srgbClr val="F43F5E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200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🦄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03804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03804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1069848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Avtobusda 45 kishi bor edi. Bekatda 18 kishi tushdi va 7 kishi chiqdi. Avtobusda nechta kishi bo'ldi?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325880" y="6217920"/>
            <a:ext cx="218084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234440" y="6583680"/>
            <a:ext cx="227228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92324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DE7FD"/>
          </a:solidFill>
          <a:ln w="25400">
            <a:solidFill>
              <a:srgbClr val="8B5CF6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009644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9644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</a:t>
            </a:r>
            <a:endParaRPr lang="en-US" sz="2200" dirty="0"/>
          </a:p>
        </p:txBody>
      </p:sp>
      <p:sp>
        <p:nvSpPr>
          <p:cNvPr id="53" name="Text 51"/>
          <p:cNvSpPr txBox="1"/>
          <p:nvPr/>
        </p:nvSpPr>
        <p:spPr>
          <a:xfrm>
            <a:off x="4677156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677156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556248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56248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009644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73652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4622292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hafta = 7 kun. 2 hafta va 3 kun jami necha kun?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4009644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78324" y="6217920"/>
            <a:ext cx="218084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009644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6884" y="6583680"/>
            <a:ext cx="227228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44768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EF3DC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57200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🦉</a:t>
            </a:r>
            <a:endParaRPr lang="en-US" sz="2200" dirty="0"/>
          </a:p>
        </p:txBody>
      </p:sp>
      <p:sp>
        <p:nvSpPr>
          <p:cNvPr id="69" name="Text 67"/>
          <p:cNvSpPr txBox="1"/>
          <p:nvPr/>
        </p:nvSpPr>
        <p:spPr>
          <a:xfrm>
            <a:off x="1124712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124712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03804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003804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21208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400" dirty="0"/>
          </a:p>
        </p:txBody>
      </p:sp>
      <p:sp>
        <p:nvSpPr>
          <p:cNvPr id="75" name="Text 73"/>
          <p:cNvSpPr txBox="1"/>
          <p:nvPr/>
        </p:nvSpPr>
        <p:spPr>
          <a:xfrm>
            <a:off x="1069848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Tarozida 2 ta olma 3 ta nok bilan teng. Bitta nok 2 kg bo'lsa, bitta olma necha kg?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325880" y="9628632"/>
            <a:ext cx="218084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234440" y="9994392"/>
            <a:ext cx="227228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592324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DFF5EC"/>
          </a:solidFill>
          <a:ln w="25400">
            <a:solidFill>
              <a:srgbClr val="10B981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4009644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009644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🐬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4677156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4677156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556248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56248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009644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73652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🍦</a:t>
            </a:r>
            <a:endParaRPr lang="en-US" sz="2400" dirty="0"/>
          </a:p>
        </p:txBody>
      </p:sp>
      <p:sp>
        <p:nvSpPr>
          <p:cNvPr id="91" name="Text 89"/>
          <p:cNvSpPr txBox="1"/>
          <p:nvPr/>
        </p:nvSpPr>
        <p:spPr>
          <a:xfrm>
            <a:off x="4622292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Muzqaymoq 4 000 so'm turadi. Ali sotuvchiga 10 000 so'm berdi. U qancha qaytim oladi?</a:t>
            </a:r>
            <a:endParaRPr lang="en-US" sz="1150" dirty="0"/>
          </a:p>
        </p:txBody>
      </p:sp>
      <p:sp>
        <p:nvSpPr>
          <p:cNvPr id="92" name="Text 90"/>
          <p:cNvSpPr txBox="1"/>
          <p:nvPr/>
        </p:nvSpPr>
        <p:spPr>
          <a:xfrm>
            <a:off x="4009644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878324" y="9628632"/>
            <a:ext cx="218084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009644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4786884" y="9994392"/>
            <a:ext cx="227228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144768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99" name="Shape 97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100" name="Shape 98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🦋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003804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3804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👧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Validan katta. Vali Sobirdan katta. Uchovidan eng kichigi kim?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807208"/>
            <a:ext cx="218084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34440" y="3172968"/>
            <a:ext cx="227228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92324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DE4E8"/>
          </a:solidFill>
          <a:ln w="25400">
            <a:solidFill>
              <a:srgbClr val="F43F5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09644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964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677156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77156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56248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9644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7365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22292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Kitob 96 betdan iborat. Laylo har kuni 12 betdan o'qiydi. U kitobni necha kunda o'qib tugatadi?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09644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8324" y="2807208"/>
            <a:ext cx="218084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09644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86884" y="3172968"/>
            <a:ext cx="227228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44768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DE7FD"/>
          </a:solidFill>
          <a:ln w="25400">
            <a:solidFill>
              <a:srgbClr val="8B5CF6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200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🦜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03804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03804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1069848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son juft: 23, 37, 48, 51? Nima uchun?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325880" y="6217920"/>
            <a:ext cx="218084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234440" y="6583680"/>
            <a:ext cx="227228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92324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EF3DC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009644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9644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🐝</a:t>
            </a:r>
            <a:endParaRPr lang="en-US" sz="2200" dirty="0"/>
          </a:p>
        </p:txBody>
      </p:sp>
      <p:sp>
        <p:nvSpPr>
          <p:cNvPr id="53" name="Text 51"/>
          <p:cNvSpPr txBox="1"/>
          <p:nvPr/>
        </p:nvSpPr>
        <p:spPr>
          <a:xfrm>
            <a:off x="4677156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677156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556248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56248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009644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73652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4622292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Onam 3 ta tort pishirdi va har birini 4 bo'lakka bo'ldi. Mehmonlar 10 bo'lak yedi. Nechta bo'lak qoldi?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4009644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78324" y="6217920"/>
            <a:ext cx="218084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009644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6884" y="6583680"/>
            <a:ext cx="227228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44768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DFF5EC"/>
          </a:solidFill>
          <a:ln w="25400">
            <a:solidFill>
              <a:srgbClr val="10B981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57200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</a:t>
            </a:r>
            <a:endParaRPr lang="en-US" sz="2200" dirty="0"/>
          </a:p>
        </p:txBody>
      </p:sp>
      <p:sp>
        <p:nvSpPr>
          <p:cNvPr id="69" name="Text 67"/>
          <p:cNvSpPr txBox="1"/>
          <p:nvPr/>
        </p:nvSpPr>
        <p:spPr>
          <a:xfrm>
            <a:off x="1124712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124712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03804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003804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17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21208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💯</a:t>
            </a:r>
            <a:endParaRPr lang="en-US" sz="2400" dirty="0"/>
          </a:p>
        </p:txBody>
      </p:sp>
      <p:sp>
        <p:nvSpPr>
          <p:cNvPr id="75" name="Text 73"/>
          <p:cNvSpPr txBox="1"/>
          <p:nvPr/>
        </p:nvSpPr>
        <p:spPr>
          <a:xfrm>
            <a:off x="1069848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dan 45 ni ayirsak, nechchi qoladi?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325880" y="9628632"/>
            <a:ext cx="218084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234440" y="9994392"/>
            <a:ext cx="227228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592324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4009644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009644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🦒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4677156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4677156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556248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56248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18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009644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73652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2400" dirty="0"/>
          </a:p>
        </p:txBody>
      </p:sp>
      <p:sp>
        <p:nvSpPr>
          <p:cNvPr id="91" name="Text 89"/>
          <p:cNvSpPr txBox="1"/>
          <p:nvPr/>
        </p:nvSpPr>
        <p:spPr>
          <a:xfrm>
            <a:off x="4622292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soat 9:00 da boshlandi va 45 daqiqa davom etdi. Dars soat nechada tugadi?</a:t>
            </a:r>
            <a:endParaRPr lang="en-US" sz="1150" dirty="0"/>
          </a:p>
        </p:txBody>
      </p:sp>
      <p:sp>
        <p:nvSpPr>
          <p:cNvPr id="92" name="Text 90"/>
          <p:cNvSpPr txBox="1"/>
          <p:nvPr/>
        </p:nvSpPr>
        <p:spPr>
          <a:xfrm>
            <a:off x="4009644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878324" y="9628632"/>
            <a:ext cx="218084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009644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4786884" y="9994392"/>
            <a:ext cx="227228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144768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99" name="Shape 97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100" name="Shape 98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DE4E8"/>
          </a:solidFill>
          <a:ln w="25400">
            <a:solidFill>
              <a:srgbClr val="F43F5E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003804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03804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Sana: 🔺 🔵 🔺 🔺 🟩 🔺 🔵 🟩 🔺 — bu yerda nechta uchburchak bor?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807208"/>
            <a:ext cx="218084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34440" y="3172968"/>
            <a:ext cx="227228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92324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72484" y="320040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DE7FD"/>
          </a:solidFill>
          <a:ln w="25400">
            <a:solidFill>
              <a:srgbClr val="8B5CF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09644" y="4572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9644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🦔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677156" y="475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77156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56248" y="5029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502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09644" y="1143000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7365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🟪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622292" y="1207008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Kvadratning bir tomoni 7 sm. Uning perimetri necha sm?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09644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8324" y="2807208"/>
            <a:ext cx="218084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09644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86884" y="3172968"/>
            <a:ext cx="2272284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44768" y="309067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009644" y="3291840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EF3DC"/>
          </a:solidFill>
          <a:ln w="25400">
            <a:solidFill>
              <a:srgbClr val="F59E0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7200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🐞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03804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03804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1069848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Sardor 3 marta 250 metrdan yugurdi. U jami necha metr yugurdi?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325880" y="6217920"/>
            <a:ext cx="218084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234440" y="6583680"/>
            <a:ext cx="2272284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92324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872484" y="3730752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DFF5EC"/>
          </a:solidFill>
          <a:ln w="25400">
            <a:solidFill>
              <a:srgbClr val="10B981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4009644" y="386791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009644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🦩</a:t>
            </a:r>
            <a:endParaRPr lang="en-US" sz="2200" dirty="0"/>
          </a:p>
        </p:txBody>
      </p:sp>
      <p:sp>
        <p:nvSpPr>
          <p:cNvPr id="53" name="Text 51"/>
          <p:cNvSpPr txBox="1"/>
          <p:nvPr/>
        </p:nvSpPr>
        <p:spPr>
          <a:xfrm>
            <a:off x="4677156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677156" y="4142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556248" y="3913632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56248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009644" y="4553712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73652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🧦</a:t>
            </a:r>
            <a:endParaRPr lang="en-US" sz="2400" dirty="0"/>
          </a:p>
        </p:txBody>
      </p:sp>
      <p:sp>
        <p:nvSpPr>
          <p:cNvPr id="59" name="Text 57"/>
          <p:cNvSpPr txBox="1"/>
          <p:nvPr/>
        </p:nvSpPr>
        <p:spPr>
          <a:xfrm>
            <a:off x="4622292" y="4617720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Qutida 4 ta qora va 4 ta oq paypoq bor. Qorong'ida kamida nechtasini olsak, albatta bir xil rangli juft chiqadi?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4009644" y="5971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78324" y="6217920"/>
            <a:ext cx="218084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009644" y="6336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786884" y="6583680"/>
            <a:ext cx="2272284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44768" y="6501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009644" y="6702552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0040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E0F7F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457200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🐿️</a:t>
            </a:r>
            <a:endParaRPr lang="en-US" sz="2200" dirty="0"/>
          </a:p>
        </p:txBody>
      </p:sp>
      <p:sp>
        <p:nvSpPr>
          <p:cNvPr id="69" name="Text 67"/>
          <p:cNvSpPr txBox="1"/>
          <p:nvPr/>
        </p:nvSpPr>
        <p:spPr>
          <a:xfrm>
            <a:off x="1124712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1124712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003804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003804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21208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</a:t>
            </a:r>
            <a:endParaRPr lang="en-US" sz="2400" dirty="0"/>
          </a:p>
        </p:txBody>
      </p:sp>
      <p:sp>
        <p:nvSpPr>
          <p:cNvPr id="75" name="Text 73"/>
          <p:cNvSpPr txBox="1"/>
          <p:nvPr/>
        </p:nvSpPr>
        <p:spPr>
          <a:xfrm>
            <a:off x="1069848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Pitsa 8 ta teng bo'lakka bo'lindi. 3 ta bo'lagini yeyishdi. Pitsaning qanday qismi qoldi? (kasr bilan yozing)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1325880" y="9628632"/>
            <a:ext cx="218084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57200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234440" y="9994392"/>
            <a:ext cx="2272284" cy="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592324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457200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72484" y="7141464"/>
            <a:ext cx="3369564" cy="3227832"/>
          </a:xfrm>
          <a:prstGeom prst="roundRect">
            <a:avLst>
              <a:gd name="adj" fmla="val 4533"/>
            </a:avLst>
          </a:prstGeom>
          <a:solidFill>
            <a:srgbClr val="FDE4E8"/>
          </a:solidFill>
          <a:ln w="25400">
            <a:solidFill>
              <a:srgbClr val="F43F5E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4009644" y="7278624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43F5E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009644" y="7278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🐮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4677156" y="7296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Sehrli chipta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4677156" y="7552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belgi — sening ismingga sehrli belgi!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556248" y="732434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56248" y="73243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24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009644" y="7964424"/>
            <a:ext cx="309524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073652" y="801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400" dirty="0"/>
          </a:p>
        </p:txBody>
      </p:sp>
      <p:sp>
        <p:nvSpPr>
          <p:cNvPr id="91" name="Text 89"/>
          <p:cNvSpPr txBox="1"/>
          <p:nvPr/>
        </p:nvSpPr>
        <p:spPr>
          <a:xfrm>
            <a:off x="4622292" y="8028432"/>
            <a:ext cx="23637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+ 300 − 200 = ?</a:t>
            </a:r>
            <a:endParaRPr lang="en-US" sz="1150" dirty="0"/>
          </a:p>
        </p:txBody>
      </p:sp>
      <p:sp>
        <p:nvSpPr>
          <p:cNvPr id="92" name="Text 90"/>
          <p:cNvSpPr txBox="1"/>
          <p:nvPr/>
        </p:nvSpPr>
        <p:spPr>
          <a:xfrm>
            <a:off x="4009644" y="9381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Javobim: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878324" y="9628632"/>
            <a:ext cx="218084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009644" y="9747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Ismim: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4786884" y="9994392"/>
            <a:ext cx="2272284" cy="0"/>
          </a:xfrm>
          <a:prstGeom prst="line">
            <a:avLst/>
          </a:prstGeom>
          <a:noFill/>
          <a:ln w="9525">
            <a:solidFill>
              <a:srgbClr val="F43F5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144768" y="99120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☆ ☆ ☆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4009644" y="10113264"/>
            <a:ext cx="3095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781044" y="137160"/>
            <a:ext cx="0" cy="1042416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99" name="Shape 97"/>
          <p:cNvSpPr/>
          <p:nvPr/>
        </p:nvSpPr>
        <p:spPr>
          <a:xfrm>
            <a:off x="137160" y="3639312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  <p:sp>
        <p:nvSpPr>
          <p:cNvPr id="100" name="Shape 98"/>
          <p:cNvSpPr/>
          <p:nvPr/>
        </p:nvSpPr>
        <p:spPr>
          <a:xfrm>
            <a:off x="137160" y="7050024"/>
            <a:ext cx="7315200" cy="0"/>
          </a:xfrm>
          <a:prstGeom prst="line">
            <a:avLst/>
          </a:prstGeom>
          <a:noFill/>
          <a:ln w="6350">
            <a:solidFill>
              <a:srgbClr val="D5D3E6"/>
            </a:solidFill>
            <a:prstDash val="sysDot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18872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Javoblar varag'i — faqat o'qituvchi uchun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Mamadaliyeva Xurshidaxon · Jalaquduq tumani 14-maktab boshlang'ich sinf o'qituvchisi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647688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1097280"/>
                <a:gridCol w="454456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(har safar 2 marta ortadi)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(99 + 10)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ta sigir va 3 ta tovuq (8 + 6 = 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kishi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kun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kg (3 nok = 6 kg, 2 olma = 6 kg)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 so'm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kunda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(oxiri 8 — juft raqam)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ta (12 − 10)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9:45 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sm (7 ×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Mulohaza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🐿️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992124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Bilish: 8 ta · Qo'llash: 8 ta · Mulohaza: 8 ta.  To'g'ri javob — ⭐ (ilovada 🎁 Bonus tugmasi).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19556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Sehrli chiptalar — o'quvchilar uchun</dc:title>
  <dc:subject>PptxGenJS Presentation</dc:subject>
  <dc:creator>Mamadaliyeva Xurshidaxon</dc:creator>
  <cp:lastModifiedBy>Mamadaliyeva Xurshidaxon</cp:lastModifiedBy>
  <cp:revision>1</cp:revision>
  <dcterms:created xsi:type="dcterms:W3CDTF">2026-09-20T17:39:15Z</dcterms:created>
  <dcterms:modified xsi:type="dcterms:W3CDTF">2026-09-20T17:39:15Z</dcterms:modified>
</cp:coreProperties>
</file>